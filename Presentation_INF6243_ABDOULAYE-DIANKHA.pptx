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2f2df6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32f2df66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572b88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6572b889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Conception d'un système intelligent pour le diagnostic automatique d'un nouveau diabète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685800" y="493235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2000"/>
              <a:buNone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Elhadji Abdoulaye Diankha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None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Université du Québec en Outaouais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&amp; contexte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Les systèmes de santé intelligents transforment les données médicales en connaissances exploitables.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Le diabète est une maladie chronique causée par une production ou une utilisation inefficace de l'insuline.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Deux types : Type 1 (insuffisance d'insuline) et Type 2 (résistance à l'insuline).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Description du dataset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Variables : </a:t>
            </a:r>
            <a:r>
              <a:rPr lang="en-US" sz="2000">
                <a:solidFill>
                  <a:srgbClr val="D9E6FF"/>
                </a:solidFill>
              </a:rPr>
              <a:t>NUMPA, </a:t>
            </a:r>
            <a:r>
              <a:rPr lang="en-US" sz="2000">
                <a:solidFill>
                  <a:srgbClr val="D9E6FF"/>
                </a:solidFill>
              </a:rPr>
              <a:t>Genre, </a:t>
            </a: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AGE, Urea, Cr, HbA1c, Chol, TG, HDL, LDL, VLDL, BMI,, CLASS</a:t>
            </a:r>
            <a:endParaRPr sz="2000">
              <a:solidFill>
                <a:srgbClr val="D9E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Genre (M/F), CLASS (N, Y, P)</a:t>
            </a:r>
            <a:endParaRPr sz="2000">
              <a:solidFill>
                <a:srgbClr val="D9E6FF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Nombre d'observations : 1000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Problème de classification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457200" y="27432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Analyse exploratoire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457200" y="109728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Distribution de l'âge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457200" y="310896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HbA1c vs CLASS</a:t>
            </a:r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457200" y="5120640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BMI vs CLASS</a:t>
            </a:r>
            <a:endParaRPr/>
          </a:p>
        </p:txBody>
      </p:sp>
      <p:pic>
        <p:nvPicPr>
          <p:cNvPr id="106" name="Google Shape;106;p16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600" y="1645900"/>
            <a:ext cx="27063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 title="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00" y="3683937"/>
            <a:ext cx="2706299" cy="143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 title="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00" y="5571650"/>
            <a:ext cx="2706299" cy="111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Prétraitement des données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Nettoyage des valeurs aberrantes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Encodage des variables catégorielles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Normalisation / standardisation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Gestion du déséquilibre (sur-échantillonnage)</a:t>
            </a:r>
            <a:endParaRPr/>
          </a:p>
        </p:txBody>
      </p:sp>
      <p:pic>
        <p:nvPicPr>
          <p:cNvPr id="115" name="Google Shape;115;p17" title="vb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874575"/>
            <a:ext cx="2595974" cy="190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 title="vb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8788" y="3921063"/>
            <a:ext cx="2766427" cy="180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title="vb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2100" y="1466500"/>
            <a:ext cx="2766425" cy="20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vb2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0850" y="3874575"/>
            <a:ext cx="2952426" cy="190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ct val="1000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Phase </a:t>
            </a: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d'entraînement</a:t>
            </a: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 et de validation 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60% de </a:t>
            </a:r>
            <a:r>
              <a:rPr lang="en-US" sz="2000">
                <a:solidFill>
                  <a:srgbClr val="D9E6FF"/>
                </a:solidFill>
              </a:rPr>
              <a:t>données </a:t>
            </a:r>
            <a:r>
              <a:rPr lang="en-US" sz="2000">
                <a:solidFill>
                  <a:srgbClr val="D9E6FF"/>
                </a:solidFill>
              </a:rPr>
              <a:t>attester aux </a:t>
            </a:r>
            <a:r>
              <a:rPr lang="en-US" sz="2000">
                <a:solidFill>
                  <a:srgbClr val="D9E6FF"/>
                </a:solidFill>
              </a:rPr>
              <a:t>données d'entraînement</a:t>
            </a:r>
            <a:endParaRPr sz="2000">
              <a:solidFill>
                <a:srgbClr val="D9E6FF"/>
              </a:solidFill>
            </a:endParaRPr>
          </a:p>
          <a:p>
            <a:pPr indent="-3556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40%  attribué aux </a:t>
            </a:r>
            <a:r>
              <a:rPr lang="en-US" sz="2000">
                <a:solidFill>
                  <a:srgbClr val="D9E6FF"/>
                </a:solidFill>
              </a:rPr>
              <a:t>données test</a:t>
            </a:r>
            <a:endParaRPr sz="2000">
              <a:solidFill>
                <a:srgbClr val="D9E6FF"/>
              </a:solidFill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6FF"/>
                </a:solidFill>
              </a:rPr>
              <a:t>Pour la validation:</a:t>
            </a:r>
            <a:endParaRPr sz="2000" u="sng">
              <a:solidFill>
                <a:srgbClr val="D9E6FF"/>
              </a:solidFill>
            </a:endParaRPr>
          </a:p>
          <a:p>
            <a:pPr indent="-3556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20% </a:t>
            </a:r>
            <a:r>
              <a:rPr lang="en-US" sz="2000">
                <a:solidFill>
                  <a:srgbClr val="D9E6FF"/>
                </a:solidFill>
              </a:rPr>
              <a:t>de donnée  </a:t>
            </a:r>
            <a:r>
              <a:rPr lang="en-US" sz="2000">
                <a:solidFill>
                  <a:srgbClr val="D9E6FF"/>
                </a:solidFill>
              </a:rPr>
              <a:t>attribuer aux </a:t>
            </a:r>
            <a:r>
              <a:rPr lang="en-US" sz="2000">
                <a:solidFill>
                  <a:srgbClr val="D9E6FF"/>
                </a:solidFill>
              </a:rPr>
              <a:t>données</a:t>
            </a:r>
            <a:r>
              <a:rPr lang="en-US" sz="2000">
                <a:solidFill>
                  <a:srgbClr val="D9E6FF"/>
                </a:solidFill>
              </a:rPr>
              <a:t> de test</a:t>
            </a:r>
            <a:endParaRPr sz="2000">
              <a:solidFill>
                <a:srgbClr val="D9E6FF"/>
              </a:solidFill>
            </a:endParaRPr>
          </a:p>
          <a:p>
            <a:pPr indent="-3556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les 20% restant  aux </a:t>
            </a:r>
            <a:r>
              <a:rPr lang="en-US" sz="2000">
                <a:solidFill>
                  <a:srgbClr val="D9E6FF"/>
                </a:solidFill>
              </a:rPr>
              <a:t>données</a:t>
            </a:r>
            <a:r>
              <a:rPr lang="en-US" sz="2000">
                <a:solidFill>
                  <a:srgbClr val="D9E6FF"/>
                </a:solidFill>
              </a:rPr>
              <a:t> de validation</a:t>
            </a:r>
            <a:endParaRPr sz="2000">
              <a:solidFill>
                <a:srgbClr val="D9E6FF"/>
              </a:solidFill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6FF"/>
                </a:solidFill>
              </a:rPr>
              <a:t>Ojectif </a:t>
            </a:r>
            <a:r>
              <a:rPr lang="en-US" sz="2000">
                <a:solidFill>
                  <a:srgbClr val="D9E6FF"/>
                </a:solidFill>
              </a:rPr>
              <a:t>:</a:t>
            </a:r>
            <a:endParaRPr sz="2000">
              <a:solidFill>
                <a:srgbClr val="D9E6FF"/>
              </a:solidFill>
            </a:endParaRPr>
          </a:p>
          <a:p>
            <a:pPr indent="-3556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Cette validation sert à valider notre model sur des </a:t>
            </a:r>
            <a:r>
              <a:rPr lang="en-US" sz="2000">
                <a:solidFill>
                  <a:srgbClr val="D9E6FF"/>
                </a:solidFill>
              </a:rPr>
              <a:t>données</a:t>
            </a:r>
            <a:r>
              <a:rPr lang="en-US" sz="2000">
                <a:solidFill>
                  <a:srgbClr val="D9E6FF"/>
                </a:solidFill>
              </a:rPr>
              <a:t> qu’ils n’ont jamais vue afin de s’assurer sur ses performances a pourvoir faire de l’apprentissage sur des </a:t>
            </a:r>
            <a:r>
              <a:rPr lang="en-US" sz="2000">
                <a:solidFill>
                  <a:srgbClr val="D9E6FF"/>
                </a:solidFill>
              </a:rPr>
              <a:t>données</a:t>
            </a:r>
            <a:r>
              <a:rPr lang="en-US" sz="2000">
                <a:solidFill>
                  <a:srgbClr val="D9E6FF"/>
                </a:solidFill>
              </a:rPr>
              <a:t> futures .</a:t>
            </a:r>
            <a:endParaRPr sz="2000">
              <a:solidFill>
                <a:srgbClr val="D9E6FF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D9E6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phase de modélisation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Algorithmes d'apprentissage supervisé utilisés 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Régression Logistique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Forêt Aléatoire (Random Forest)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Perceptron multicouche (MLP)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Machine à vecteurs de support (SVM)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ct val="1000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Sélection des caractéristiques et cross-validation  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Méthodes utilisées :</a:t>
            </a:r>
            <a:endParaRPr u="sng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RFE (Recursive Feature Elimination)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Objectif : réduire la dimensionnalité tout en conservant la performance</a:t>
            </a:r>
            <a:endParaRPr sz="2000">
              <a:solidFill>
                <a:srgbClr val="D9E6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D9E6FF"/>
              </a:solidFill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D9E6FF"/>
                </a:solidFill>
              </a:rPr>
              <a:t>cross-validation</a:t>
            </a:r>
            <a:r>
              <a:rPr lang="en-US" sz="2000">
                <a:solidFill>
                  <a:srgbClr val="D9E6FF"/>
                </a:solidFill>
              </a:rPr>
              <a:t> 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</a:rPr>
              <a:t>- GridSearchCV pour trouver la meilleure combinaison d'hyperparamètres pour un modèle d'apprentissage automatique avec des splits de 5.</a:t>
            </a:r>
            <a:endParaRPr sz="2000">
              <a:solidFill>
                <a:srgbClr val="D9E6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Résultats principaux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Modèle Random Forest 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Accuracy : 98.07%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Précision : 98%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Rappel : 98%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F1-score : 98%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Log loss : 0.03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Comparaison des modèles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Modèle | Accuracy | Précision | Rappel | F1-score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--------|----------|-----------|--------|---------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Régression Logistique | 92.5% | 91% | 90% | 90%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Random Forest | 98.07% | 98% | 98% | 98%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MLP Classifier | 95% | 94% | 93% | 93%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SVM | 94% | 93% | 92% | 92%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A3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9E6FF"/>
              </a:buClr>
              <a:buSzPts val="3600"/>
              <a:buFont typeface="Arial Black"/>
              <a:buNone/>
            </a:pPr>
            <a:r>
              <a:rPr lang="en-US" sz="3600">
                <a:solidFill>
                  <a:srgbClr val="D9E6FF"/>
                </a:solidFill>
                <a:latin typeface="Arial Black"/>
                <a:ea typeface="Arial Black"/>
                <a:cs typeface="Arial Black"/>
                <a:sym typeface="Arial Black"/>
              </a:rPr>
              <a:t>Conclusion &amp; perspectives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Random Forest est le modèle le plus performant.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Perspectives 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Intégration dans une application clinique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Collecte de données plus variées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D9E6FF"/>
              </a:buClr>
              <a:buSzPts val="2000"/>
              <a:buChar char="•"/>
            </a:pPr>
            <a:r>
              <a:rPr lang="en-US" sz="2000">
                <a:solidFill>
                  <a:srgbClr val="D9E6FF"/>
                </a:solidFill>
                <a:latin typeface="Calibri"/>
                <a:ea typeface="Calibri"/>
                <a:cs typeface="Calibri"/>
                <a:sym typeface="Calibri"/>
              </a:rPr>
              <a:t>- Optimisation des hyperparamètres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